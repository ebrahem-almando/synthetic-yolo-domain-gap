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thd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49039" y="1097280"/>
            <a:ext cx="7498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3800" b="1">
                <a:solidFill>
                  <a:srgbClr val="F6F9FF"/>
                </a:solidFill>
                <a:latin typeface="Tajawal"/>
              </a:rPr>
              <a:t>سينث دِت — SynthDet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965960"/>
            <a:ext cx="8503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500" b="1">
                <a:solidFill>
                  <a:srgbClr val="1DBECD"/>
                </a:solidFill>
                <a:latin typeface="Tajawal"/>
              </a:rPr>
              <a:t>تعزيز البيانات الاصطناعية لكشف الأجسام باستخدام YOLO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69748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200" b="0">
                <a:solidFill>
                  <a:srgbClr val="A4B6D1"/>
                </a:solidFill>
                <a:latin typeface="Tajawal"/>
              </a:rPr>
              <a:t>قياس فجوة المجال بين البيانات الاصطناعية والحقيقية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3886200"/>
            <a:ext cx="2468880" cy="1325880"/>
          </a:xfrm>
          <a:prstGeom prst="roundRect">
            <a:avLst/>
          </a:prstGeom>
          <a:solidFill>
            <a:srgbClr val="122039"/>
          </a:solidFill>
          <a:ln>
            <a:solidFill>
              <a:srgbClr val="1FB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411480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700" b="1">
                <a:solidFill>
                  <a:srgbClr val="1FBE8B"/>
                </a:solidFill>
                <a:latin typeface="Tajaw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475488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300" b="0">
                <a:solidFill>
                  <a:srgbClr val="A4B6D1"/>
                </a:solidFill>
                <a:latin typeface="Tajawal"/>
              </a:rPr>
              <a:t>أنظمة تدريب مكتملة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3886200"/>
            <a:ext cx="2468880" cy="1325880"/>
          </a:xfrm>
          <a:prstGeom prst="roundRect">
            <a:avLst/>
          </a:prstGeom>
          <a:solidFill>
            <a:srgbClr val="122039"/>
          </a:solidFill>
          <a:ln>
            <a:solidFill>
              <a:srgbClr val="F5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411480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700" b="1">
                <a:solidFill>
                  <a:srgbClr val="F5B830"/>
                </a:solidFill>
                <a:latin typeface="Tajawal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475488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300" b="0">
                <a:solidFill>
                  <a:srgbClr val="A4B6D1"/>
                </a:solidFill>
                <a:latin typeface="Tajawal"/>
              </a:rPr>
              <a:t>صورة اختبار محمية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86200"/>
            <a:ext cx="2468880" cy="1325880"/>
          </a:xfrm>
          <a:prstGeom prst="roundRect">
            <a:avLst/>
          </a:prstGeom>
          <a:solidFill>
            <a:srgbClr val="122039"/>
          </a:solidFill>
          <a:ln>
            <a:solidFill>
              <a:srgbClr val="367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411480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700" b="1">
                <a:solidFill>
                  <a:srgbClr val="367FF5"/>
                </a:solidFill>
                <a:latin typeface="Tajawal"/>
              </a:rPr>
              <a:t>0.2119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75488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300" b="0">
                <a:solidFill>
                  <a:srgbClr val="A4B6D1"/>
                </a:solidFill>
                <a:latin typeface="Tajawal"/>
              </a:rPr>
              <a:t>قيمة المقياس الأساسي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المشكلة والدافع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تعليم الصور الحقيقية مكلف ومحدود لبعض الفئات.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الصور المركبة قد تزيد التنوع لكنها تحمل فجوة مظهرية.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المطلوب قياس النقل إلى صور حقيقية جديدة تحت مقارنة عادلة.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الهدف وأسئلة البحث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تثبيت المعمارية والميزانية والتحقق والإعدادات.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تغيير نسبة الحقيقي/الاصطناعي فقط: 0، 25، 50، 75، 100%.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ترتيب النماذج على اختبار حقيقي محمي وفق قاعدة معلنة مسبقًا.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سير العمل العلمي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04</a:t>
            </a:r>
          </a:p>
        </p:txBody>
      </p:sp>
      <p:pic>
        <p:nvPicPr>
          <p:cNvPr id="5" name="Picture 4" descr="figure_05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0749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17320"/>
            <a:ext cx="58064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كل مرحلة تربط هويتها وبصمتها بالمرحلة التالية.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لا فتح للاختبار قبل تجميد العقد ودفعه.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النتائج والمنتج مشتقان من المخرجات المختومة.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البيانات وسبع فئات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635 صورة مقبولة و4,784 جسمًا بعد تحقق صارم.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fish، jellyfish، penguin، puffin، shark، starfish، stingray.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عدم توازن فئوي ومشاهد انعكاس وازدحام وإضاءة صناعية.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التقسيم الثاني ومنع التسرب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427 تدريب / 140 تحقق / 68 اختبار محمي.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تقسيم مجموعات مصدر غير قابلة للتجزئة ببذرة 42.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تصحيح فئة البطريق: أربع صور اختبار فقط؛ عدم يقين مرتفع.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التوليد الاصطناعي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427 مركب نسخ ولصق من التدريب فقط، وليست مشاهد مرسومة بالكامل.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798 جسمًا ملصقًا مع أقنعة وفلاتر جودة وتحويلات محدودة.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بصمة وتتبّع لكل مصدر وخلفية وتحويل ومحاولة وضع.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تصميم التجارب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427 صورة في كل نظام؛ تحقق حقيقي مشترك.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اقتران تكميلي: القماش الحقيقي أو مشتقه الاصطناعي مرة واحدة.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المتغير العلمي الوحيد هو تركيب بيانات التدريب.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بروتوكول التدريب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نموذج الكشف الصغير، حجم 640، خمسون حقبة، ودفعة 16.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بطاقة تسريع موحدة وبذرة 42 وإعدادات تحسين ثابتة.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اكتملت خمسة best/last؛ وصول الاختبار أثناء التدريب = صفر.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نتائج التحقق — غير نهائية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10</a:t>
            </a:r>
          </a:p>
        </p:txBody>
      </p:sp>
      <p:pic>
        <p:nvPicPr>
          <p:cNvPr id="5" name="Picture 4" descr="figure_02_domai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0749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17320"/>
            <a:ext cx="58064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قيم المقياس بالترتيب: 0.3011، 0.3263، 0.3193، 0.3308، 0.3125.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نظام 75% حقيقي تصدر التحقق، لكنه لم يتصدر الاختبار.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لم يُختر الفائز قبل اكتمال النماذج الخمسة.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نتائج الاختبار النهائي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11</a:t>
            </a:r>
          </a:p>
        </p:txBody>
      </p:sp>
      <p:pic>
        <p:nvPicPr>
          <p:cNvPr id="5" name="Picture 4" descr="figure_01_fin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0749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17320"/>
            <a:ext cx="58064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الحقيقي فقط في المرتبة الأولى؛ قيمة المقياس 0.211920.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خليط 50% حقيقي هو الأقوى بين الخلطات؛ قيمته 0.198121.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الترتيب الكامل مُحدد بقاعدة ما قبل الاختبار.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حسب الفئة والحجم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12</a:t>
            </a:r>
          </a:p>
        </p:txBody>
      </p:sp>
      <p:pic>
        <p:nvPicPr>
          <p:cNvPr id="5" name="Picture 4" descr="figure_03_per_cla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0749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17320"/>
            <a:ext cx="58064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متصدر الفئات يختلف؛ لا نظام يهيمن على الجميع.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الحقيقي فقط أفضل للصغير والكبير؛ خليط 50% للمتوسط.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الأجسام الصغيرة ضعيفة والبطريق محدود بأربع صور.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فجوة المجال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13</a:t>
            </a:r>
          </a:p>
        </p:txBody>
      </p:sp>
      <p:pic>
        <p:nvPicPr>
          <p:cNvPr id="5" name="Picture 4" descr="figure_02_domai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0749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17320"/>
            <a:ext cx="58064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الحقيقي فقط أعلى من الاصطناعي فقط بمقدار 0.042982.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الفرق النسبي 25.44%، وكل الخلطات تتجاوز الاصطناعي فقط.</a:t>
            </a:r>
          </a:p>
          <a:p>
            <a:pPr algn="r" rtl="1">
              <a:spcAft>
                <a:spcPts val="1300"/>
              </a:spcAft>
            </a:pPr>
            <a:r>
              <a:rPr sz="1800">
                <a:solidFill>
                  <a:srgbClr val="F6F9FF"/>
                </a:solidFill>
                <a:latin typeface="Tajawal"/>
              </a:rPr>
              <a:t>•  المنحنى غير رتيب؛ لا ادعاء نسبة مثلى أو أثر سببي عام.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تحليل الأخطاء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235 حالة مختارة بقواعد حتمية بعد ختم الحملة.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إيجابيات وسلبيات كاذبة وتموضع والتباس واختلافات ونجاحات ممثلة.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بكسلات الاختبار لا تُنشر؛ المستودع يتتبع البيانات الوصفية فقط.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اللوحة العربية وخدمة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Next.js RTL وTajawal ووضعا ضوء/ظلام واستجابة كاملة.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ثلاثة أوضاع بيانات صريحة بلا رجوع صامت إلى العرض التجريبي.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استدلال كسول محمي بالبصمة وصورة معلّمة ونتيجة منظمة.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قابلية إعادة الإنتاج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هويات ثابتة للتقسيم والتوليد والتجارب والتدريب والعقد والحملة.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خمس بصمات نتائج وعشر بصمات تنبؤات متحققة.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أوامر لويندوز ولينكس وحزمة محلية دون نشر الأوزان أو الاختبار.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القيود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68 صورة اختبار، أربع صور بطريق، وعدم توازن فئوي.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مجموعة ومعمارية وبذرة ومولد نسخ ولصق واحد.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لا فواصل ثقة؛ النتائج ارتباطية ومحدودة الصلاحية الخارجية.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384048"/>
            <a:ext cx="6903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900" b="1">
                <a:solidFill>
                  <a:srgbClr val="F6F9FF"/>
                </a:solidFill>
                <a:latin typeface="Tajawal"/>
              </a:rPr>
              <a:t>الخلاصة والعمل المستقبلي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4B6D1"/>
                </a:solidFill>
                <a:latin typeface="Tajaw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التوصية المجمدة: الحقيقي فقط؛ أقوى خليط: 50% حقيقي.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الاصطناعي ينقل معرفة لكنه لا يغلق الفجوة في هذا التصميم.</a:t>
            </a:r>
          </a:p>
          <a:p>
            <a:pPr algn="r" rtl="1">
              <a:spcAft>
                <a:spcPts val="1300"/>
              </a:spcAft>
            </a:pPr>
            <a:r>
              <a:rPr sz="2200">
                <a:solidFill>
                  <a:srgbClr val="F6F9FF"/>
                </a:solidFill>
                <a:latin typeface="Tajawal"/>
              </a:rPr>
              <a:t>•  مستقبلًا: بذور ومجموعات ومعماريات ومولدات أقوى وعدم يقين.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4B6D1"/>
                </a:solidFill>
                <a:latin typeface="Tajawal"/>
              </a:rPr>
              <a:t>sprint5-final-20260720-v1 · نتائج مختومة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